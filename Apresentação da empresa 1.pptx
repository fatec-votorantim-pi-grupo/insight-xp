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9"/>
  </p:notesMasterIdLst>
  <p:sldIdLst>
    <p:sldId id="285" r:id="rId5"/>
    <p:sldId id="257" r:id="rId6"/>
    <p:sldId id="259" r:id="rId7"/>
    <p:sldId id="260" r:id="rId8"/>
    <p:sldId id="280" r:id="rId9"/>
    <p:sldId id="263" r:id="rId10"/>
    <p:sldId id="281" r:id="rId11"/>
    <p:sldId id="282" r:id="rId12"/>
    <p:sldId id="284" r:id="rId13"/>
    <p:sldId id="278" r:id="rId14"/>
    <p:sldId id="267" r:id="rId15"/>
    <p:sldId id="274" r:id="rId16"/>
    <p:sldId id="275" r:id="rId17"/>
    <p:sldId id="286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06B670-CFD6-7BB7-6CDC-C1405F37B86F}" v="4" dt="2025-11-01T01:07:59.0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3979" autoAdjust="0"/>
  </p:normalViewPr>
  <p:slideViewPr>
    <p:cSldViewPr snapToGrid="0">
      <p:cViewPr varScale="1">
        <p:scale>
          <a:sx n="65" d="100"/>
          <a:sy n="65" d="100"/>
        </p:scale>
        <p:origin x="700" y="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Clique para mover o slide</a:t>
            </a: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</a:p>
        </p:txBody>
      </p:sp>
      <p:sp>
        <p:nvSpPr>
          <p:cNvPr id="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</a:p>
        </p:txBody>
      </p:sp>
      <p:sp>
        <p:nvSpPr>
          <p:cNvPr id="97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</a:p>
        </p:txBody>
      </p:sp>
      <p:sp>
        <p:nvSpPr>
          <p:cNvPr id="98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99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1754EBF-9400-4B7E-BD22-2D30F9278779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0A51D3-1764-4B12-A81E-6441A1AFCCC7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2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53D8E8-3602-4AC4-8E84-FB622AC78631}" type="slidenum">
              <a:rPr lang="pt-BR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3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D1754EBF-9400-4B7E-BD22-2D30F9278779}" type="slidenum">
              <a:rPr lang="pt-BR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4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60295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36"/>
          </p:nvPr>
        </p:nvSpPr>
        <p:spPr/>
        <p:txBody>
          <a:bodyPr/>
          <a:lstStyle/>
          <a:p>
            <a:pPr indent="0" algn="r">
              <a:buNone/>
            </a:pPr>
            <a:fld id="{D1754EBF-9400-4B7E-BD22-2D30F9278779}" type="slidenum">
              <a:rPr lang="pt-BR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6258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0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2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20920" cy="5073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dt" idx="1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2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B5FDF4-1C29-43F7-9AA9-2359A206E439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0" y="6210000"/>
            <a:ext cx="5020920" cy="45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1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Clique para editar o formato de texto dos tópicos</a:t>
            </a:r>
          </a:p>
          <a:p>
            <a:pPr marL="864000" lvl="1" indent="-324000">
              <a:lnSpc>
                <a:spcPct val="11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2.º nível de tópicos</a:t>
            </a:r>
          </a:p>
          <a:p>
            <a:pPr marL="1296000" lvl="2" indent="-288000">
              <a:lnSpc>
                <a:spcPct val="11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3.º nível de tópicos</a:t>
            </a:r>
          </a:p>
          <a:p>
            <a:pPr marL="1728000" lvl="3" indent="-216000">
              <a:lnSpc>
                <a:spcPct val="11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4.º nível de tópicos</a:t>
            </a:r>
          </a:p>
          <a:p>
            <a:pPr marL="2160000" lvl="4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5.º nível de tópicos</a:t>
            </a:r>
          </a:p>
          <a:p>
            <a:pPr marL="2592000" lvl="5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6.º nível de tópicos</a:t>
            </a:r>
          </a:p>
          <a:p>
            <a:pPr marL="3024000" lvl="6" indent="-216000">
              <a:lnSpc>
                <a:spcPct val="11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7.º nível de tópicos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0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1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20920" cy="487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662160" y="969120"/>
            <a:ext cx="5020920" cy="4870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1374E8-BAD6-44F5-B73C-5D9BA9FA0E8F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3" hidden="1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8" name="Rectangle 7" hidden="1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19" name="Rectangle 6" hidden="1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662160" y="996840"/>
            <a:ext cx="5011560" cy="4956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18040" y="996840"/>
            <a:ext cx="5020920" cy="49564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7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8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24" name="PlaceHolder 5"/>
          <p:cNvSpPr>
            <a:spLocks noGrp="1"/>
          </p:cNvSpPr>
          <p:nvPr>
            <p:ph type="sldNum" idx="9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7D3373-AB1C-4332-97E9-14C50E75EFC7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Rectangle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0" y="6210000"/>
            <a:ext cx="5020920" cy="45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720" rIns="90000" bIns="72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27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28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20920" cy="487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662160" y="969120"/>
            <a:ext cx="5020920" cy="487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0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1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33" name="PlaceHolder 5"/>
          <p:cNvSpPr>
            <a:spLocks noGrp="1"/>
          </p:cNvSpPr>
          <p:nvPr>
            <p:ph type="sldNum" idx="12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42AF8A-247D-41FC-AC3F-1646FFE7AE14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35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36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19840" cy="487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6662160" y="3566520"/>
            <a:ext cx="5020920" cy="22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13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14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41" name="PlaceHolder 5"/>
          <p:cNvSpPr>
            <a:spLocks noGrp="1"/>
          </p:cNvSpPr>
          <p:nvPr>
            <p:ph type="sldNum" idx="15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215533-35F2-4A1B-A969-78AF06DAC89B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43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44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20920" cy="520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63120" y="969120"/>
            <a:ext cx="5290560" cy="255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6063120" y="3621960"/>
            <a:ext cx="5290560" cy="2554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16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17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50" name="PlaceHolder 6"/>
          <p:cNvSpPr>
            <a:spLocks noGrp="1"/>
          </p:cNvSpPr>
          <p:nvPr>
            <p:ph type="sldNum" idx="18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48E907-F552-4801-BEB0-C7E6A6C68DBF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13" hidden="1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52" name="Rectangle 7" hidden="1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53" name="Rectangle 6" hidden="1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54" name="Rectangle 12"/>
          <p:cNvSpPr/>
          <p:nvPr/>
        </p:nvSpPr>
        <p:spPr>
          <a:xfrm>
            <a:off x="518040" y="507960"/>
            <a:ext cx="111553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518040" y="978120"/>
            <a:ext cx="11165040" cy="107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518040" y="2179080"/>
            <a:ext cx="5019840" cy="65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518040" y="2876040"/>
            <a:ext cx="5019840" cy="332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662160" y="2179080"/>
            <a:ext cx="5020920" cy="65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662160" y="2876040"/>
            <a:ext cx="5020920" cy="3322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dt" idx="19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7"/>
          <p:cNvSpPr>
            <a:spLocks noGrp="1"/>
          </p:cNvSpPr>
          <p:nvPr>
            <p:ph type="ftr" idx="20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2" name="PlaceHolder 8"/>
          <p:cNvSpPr>
            <a:spLocks noGrp="1"/>
          </p:cNvSpPr>
          <p:nvPr>
            <p:ph type="sldNum" idx="21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9C5056-2F5F-46AB-BCEB-53BA35146EF7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64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65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20920" cy="4870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5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dt" idx="22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ftr" idx="23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69" name="PlaceHolder 4"/>
          <p:cNvSpPr>
            <a:spLocks noGrp="1"/>
          </p:cNvSpPr>
          <p:nvPr>
            <p:ph type="sldNum" idx="24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77D123-8714-4DDA-BE17-7AAC32DAE4ED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71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dt" idx="25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ftr" idx="26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75" name="PlaceHolder 3"/>
          <p:cNvSpPr>
            <a:spLocks noGrp="1"/>
          </p:cNvSpPr>
          <p:nvPr>
            <p:ph type="sldNum" idx="27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29142E-A152-4903-B2E9-789029AEA428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77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78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20560" cy="227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6653160" y="987480"/>
            <a:ext cx="502056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lvl="1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Second level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27432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Third level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lvl="3" indent="-27432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Fourth level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  <a:p>
            <a:pPr marL="548640" indent="0" defTabSz="914400">
              <a:lnSpc>
                <a:spcPct val="11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Fifth level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18040" y="3360960"/>
            <a:ext cx="5020560" cy="2507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dt" idx="28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ftr" idx="29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84" name="PlaceHolder 6"/>
          <p:cNvSpPr>
            <a:spLocks noGrp="1"/>
          </p:cNvSpPr>
          <p:nvPr>
            <p:ph type="sldNum" idx="30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E3460E-FCCC-4A91-9ACF-B387AB4E70BF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3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86" name="Rectangle 7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87" name="Rectangle 6"/>
          <p:cNvSpPr/>
          <p:nvPr/>
        </p:nvSpPr>
        <p:spPr>
          <a:xfrm>
            <a:off x="518040" y="507960"/>
            <a:ext cx="5020920" cy="149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Bierstadt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18040" y="978480"/>
            <a:ext cx="5020560" cy="2270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title style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662160" y="987480"/>
            <a:ext cx="502668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icon to add picture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518040" y="3340440"/>
            <a:ext cx="5020560" cy="252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1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200" b="0" i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Click to edit Master text styles</a:t>
            </a:r>
            <a:endParaRPr lang="pt-BR" sz="22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dt" idx="31"/>
          </p:nvPr>
        </p:nvSpPr>
        <p:spPr>
          <a:xfrm>
            <a:off x="518040" y="6420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&lt;data/hora&gt;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ftr" idx="32"/>
          </p:nvPr>
        </p:nvSpPr>
        <p:spPr>
          <a:xfrm>
            <a:off x="518040" y="9756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</a:p>
        </p:txBody>
      </p:sp>
      <p:sp>
        <p:nvSpPr>
          <p:cNvPr id="93" name="PlaceHolder 6"/>
          <p:cNvSpPr>
            <a:spLocks noGrp="1"/>
          </p:cNvSpPr>
          <p:nvPr>
            <p:ph type="sldNum" idx="33"/>
          </p:nvPr>
        </p:nvSpPr>
        <p:spPr>
          <a:xfrm>
            <a:off x="11454480" y="6420240"/>
            <a:ext cx="6375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6750632-C3BF-42D6-B9D9-8CACBE20D3B5}" type="slidenum">
              <a:rPr lang="en-US" sz="900" b="0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‹nº›</a:t>
            </a:fld>
            <a:endParaRPr lang="pt-BR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>
            <a:extLst>
              <a:ext uri="{FF2B5EF4-FFF2-40B4-BE49-F238E27FC236}">
                <a16:creationId xmlns:a16="http://schemas.microsoft.com/office/drawing/2014/main" id="{1631DAC1-DA20-4F83-887B-46726539B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5544" y="600234"/>
            <a:ext cx="3884961" cy="1734707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u="none" strike="noStrike" dirty="0"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PROJETO INTEGRADOR I</a:t>
            </a:r>
            <a:br>
              <a:rPr sz="6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4000" u="none" strike="noStrike" dirty="0"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PlaceHolder 2">
            <a:extLst>
              <a:ext uri="{FF2B5EF4-FFF2-40B4-BE49-F238E27FC236}">
                <a16:creationId xmlns:a16="http://schemas.microsoft.com/office/drawing/2014/main" id="{D39CF749-8A0B-4165-9557-C5B7A36653A3}"/>
              </a:ext>
            </a:extLst>
          </p:cNvPr>
          <p:cNvSpPr txBox="1">
            <a:spLocks/>
          </p:cNvSpPr>
          <p:nvPr/>
        </p:nvSpPr>
        <p:spPr>
          <a:xfrm>
            <a:off x="471830" y="4762913"/>
            <a:ext cx="5656680" cy="1157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800" i="1" dirty="0">
                <a:latin typeface="Arial" panose="020B0604020202020204" pitchFamily="34" charset="0"/>
                <a:cs typeface="Arial" panose="020B0604020202020204" pitchFamily="34" charset="0"/>
              </a:rPr>
              <a:t>Conhecendo o Negócio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pt-BR" sz="2400" i="1" dirty="0">
                <a:latin typeface="Arial" panose="020B0604020202020204" pitchFamily="34" charset="0"/>
                <a:cs typeface="Arial" panose="020B0604020202020204" pitchFamily="34" charset="0"/>
              </a:rPr>
              <a:t>Curso de Ciência de Dados para Negócios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m 5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987A5C84-40C8-4D5A-95FE-3361D3DB196F}"/>
              </a:ext>
            </a:extLst>
          </p:cNvPr>
          <p:cNvPicPr/>
          <p:nvPr/>
        </p:nvPicPr>
        <p:blipFill>
          <a:blip r:embed="rId2"/>
          <a:srcRect l="30132" t="45762" r="21438" b="12226"/>
          <a:stretch/>
        </p:blipFill>
        <p:spPr>
          <a:xfrm rot="21197400">
            <a:off x="8822025" y="4062191"/>
            <a:ext cx="3342600" cy="2694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Picture 2" descr="Fatec Votorantim">
            <a:extLst>
              <a:ext uri="{FF2B5EF4-FFF2-40B4-BE49-F238E27FC236}">
                <a16:creationId xmlns:a16="http://schemas.microsoft.com/office/drawing/2014/main" id="{07D527C5-E46B-4F44-B890-334DBFEF1F1E}"/>
              </a:ext>
            </a:extLst>
          </p:cNvPr>
          <p:cNvPicPr/>
          <p:nvPr/>
        </p:nvPicPr>
        <p:blipFill>
          <a:blip r:embed="rId3"/>
          <a:stretch/>
        </p:blipFill>
        <p:spPr>
          <a:xfrm rot="21256800">
            <a:off x="9820440" y="5276520"/>
            <a:ext cx="1782720" cy="46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Imagem 12" descr="Ficheiro:XP Inc. Logo.svg – Wikipédia, a enciclopédia livre">
            <a:extLst>
              <a:ext uri="{FF2B5EF4-FFF2-40B4-BE49-F238E27FC236}">
                <a16:creationId xmlns:a16="http://schemas.microsoft.com/office/drawing/2014/main" id="{553137F8-4EBC-4D3C-B2B4-7827909AB0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3" y="938047"/>
            <a:ext cx="6035126" cy="1396894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F5CF3CCD-5EBA-4591-B857-E4E3BF27CD7B}"/>
              </a:ext>
            </a:extLst>
          </p:cNvPr>
          <p:cNvSpPr/>
          <p:nvPr/>
        </p:nvSpPr>
        <p:spPr>
          <a:xfrm>
            <a:off x="471830" y="2905780"/>
            <a:ext cx="66650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Você no comando da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sua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vida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financeira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m 2" descr="Ficheiro:XP Inc. Logo.svg – Wikipédia, a enciclopédia livre">
            <a:extLst>
              <a:ext uri="{FF2B5EF4-FFF2-40B4-BE49-F238E27FC236}">
                <a16:creationId xmlns:a16="http://schemas.microsoft.com/office/drawing/2014/main" id="{F07856E1-B5E3-11BB-5B76-8CA820817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69605">
            <a:off x="10065143" y="6065085"/>
            <a:ext cx="1664914" cy="385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22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729792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Apresentação da Equipe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DFF9B84-0F5B-4668-78F6-3D65692D45A8}"/>
              </a:ext>
            </a:extLst>
          </p:cNvPr>
          <p:cNvSpPr txBox="1"/>
          <p:nvPr/>
        </p:nvSpPr>
        <p:spPr>
          <a:xfrm>
            <a:off x="1115683" y="2136475"/>
            <a:ext cx="5121875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  <a:p>
            <a:pPr marL="228600" indent="-228600">
              <a:buFont typeface=""/>
              <a:buChar char="•"/>
            </a:pPr>
            <a:r>
              <a:rPr lang="en-US" sz="2400" dirty="0"/>
              <a:t>Antonio </a:t>
            </a:r>
            <a:r>
              <a:rPr lang="en-US" sz="2400" dirty="0" err="1"/>
              <a:t>Agnaldo</a:t>
            </a:r>
            <a:r>
              <a:rPr lang="en-US" sz="2400" dirty="0"/>
              <a:t> Matos </a:t>
            </a:r>
            <a:r>
              <a:rPr lang="en-US" sz="2400" dirty="0" err="1"/>
              <a:t>Lins</a:t>
            </a:r>
            <a:r>
              <a:rPr lang="en-US" sz="2400" dirty="0"/>
              <a:t> 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Gilberto de Souza Oliveira Junior 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Marcel Monteiro </a:t>
            </a:r>
            <a:r>
              <a:rPr lang="en-US" sz="2400" dirty="0" err="1"/>
              <a:t>Balduino</a:t>
            </a:r>
            <a:r>
              <a:rPr lang="en-US" sz="2400" dirty="0"/>
              <a:t> </a:t>
            </a:r>
          </a:p>
          <a:p>
            <a:pPr marL="228600" indent="-228600">
              <a:buFont typeface=""/>
              <a:buChar char="•"/>
            </a:pPr>
            <a:r>
              <a:rPr lang="en-US" sz="2400" dirty="0"/>
              <a:t>Renan Machado Albertini</a:t>
            </a:r>
          </a:p>
          <a:p>
            <a:endParaRPr lang="en-US" dirty="0"/>
          </a:p>
        </p:txBody>
      </p:sp>
      <p:pic>
        <p:nvPicPr>
          <p:cNvPr id="8" name="Picture 2" descr="Fatec Votorantim">
            <a:extLst>
              <a:ext uri="{FF2B5EF4-FFF2-40B4-BE49-F238E27FC236}">
                <a16:creationId xmlns:a16="http://schemas.microsoft.com/office/drawing/2014/main" id="{ED148F0F-8F29-43A3-A8E3-1371DD98991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687751" y="6253200"/>
            <a:ext cx="2308680" cy="6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m 8" descr="Ficheiro:XP Inc. Logo.svg – Wikipédia, a enciclopédia livre">
            <a:extLst>
              <a:ext uri="{FF2B5EF4-FFF2-40B4-BE49-F238E27FC236}">
                <a16:creationId xmlns:a16="http://schemas.microsoft.com/office/drawing/2014/main" id="{5B31FB6C-7F86-4B54-8895-663C29BA1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433" y="123198"/>
            <a:ext cx="2119315" cy="4905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743544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Apresentação da Empresa</a:t>
            </a:r>
            <a:endParaRPr lang="pt-BR" sz="4000" b="0" u="none" strike="noStrike" dirty="0">
              <a:solidFill>
                <a:schemeClr val="dk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EF91F9D-41D7-0BA4-C41B-111FA3817745}"/>
              </a:ext>
            </a:extLst>
          </p:cNvPr>
          <p:cNvSpPr txBox="1"/>
          <p:nvPr/>
        </p:nvSpPr>
        <p:spPr>
          <a:xfrm>
            <a:off x="508680" y="1887747"/>
            <a:ext cx="570567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Fundado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2001, a XP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Investimentos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é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referência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investimentos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Brasil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28600" indent="-228600">
              <a:buFont typeface="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Com foco em inovação, ética e sustentabilidade</a:t>
            </a:r>
          </a:p>
          <a:p>
            <a:pPr marL="228600" indent="-228600">
              <a:buFont typeface="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Estrutura diversificada em segmentos B2C e B2B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m 3" descr="XP compra fatia minoritária da Manchester Investimentos, com R$ 16 bilhões  em ativos | InvestNews">
            <a:extLst>
              <a:ext uri="{FF2B5EF4-FFF2-40B4-BE49-F238E27FC236}">
                <a16:creationId xmlns:a16="http://schemas.microsoft.com/office/drawing/2014/main" id="{BEF72D6A-6893-8409-6E00-ADB1105C1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134" y="1887747"/>
            <a:ext cx="4686821" cy="3343014"/>
          </a:xfrm>
          <a:prstGeom prst="rect">
            <a:avLst/>
          </a:prstGeom>
        </p:spPr>
      </p:pic>
      <p:pic>
        <p:nvPicPr>
          <p:cNvPr id="7" name="Picture 2" descr="Fatec Votorantim">
            <a:extLst>
              <a:ext uri="{FF2B5EF4-FFF2-40B4-BE49-F238E27FC236}">
                <a16:creationId xmlns:a16="http://schemas.microsoft.com/office/drawing/2014/main" id="{8B6B880C-3F90-42C4-AE4D-4F331C78196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9687751" y="6253200"/>
            <a:ext cx="2308680" cy="6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" name="Imagem 7" descr="Ficheiro:XP Inc. Logo.svg – Wikipédia, a enciclopédia livre">
            <a:extLst>
              <a:ext uri="{FF2B5EF4-FFF2-40B4-BE49-F238E27FC236}">
                <a16:creationId xmlns:a16="http://schemas.microsoft.com/office/drawing/2014/main" id="{69B23873-C69B-4E16-BF3D-AFD49C5C6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2433" y="123198"/>
            <a:ext cx="2119315" cy="4905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Fatec Votorantim">
            <a:extLst>
              <a:ext uri="{FF2B5EF4-FFF2-40B4-BE49-F238E27FC236}">
                <a16:creationId xmlns:a16="http://schemas.microsoft.com/office/drawing/2014/main" id="{32E52FDE-49AF-4507-A9FA-6C08755875F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687751" y="6253200"/>
            <a:ext cx="2308680" cy="6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Imagem 10" descr="Ficheiro:XP Inc. Logo.svg – Wikipédia, a enciclopédia livre">
            <a:extLst>
              <a:ext uri="{FF2B5EF4-FFF2-40B4-BE49-F238E27FC236}">
                <a16:creationId xmlns:a16="http://schemas.microsoft.com/office/drawing/2014/main" id="{248C5A96-0F01-479B-9B68-531D388AC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433" y="123198"/>
            <a:ext cx="2119315" cy="490538"/>
          </a:xfrm>
          <a:prstGeom prst="rect">
            <a:avLst/>
          </a:prstGeom>
        </p:spPr>
      </p:pic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291FB7B-EA3E-48CA-B850-07ABD3D803F9}"/>
              </a:ext>
            </a:extLst>
          </p:cNvPr>
          <p:cNvSpPr/>
          <p:nvPr/>
        </p:nvSpPr>
        <p:spPr>
          <a:xfrm>
            <a:off x="563875" y="1240971"/>
            <a:ext cx="3129232" cy="2062103"/>
          </a:xfrm>
          <a:prstGeom prst="roundRect">
            <a:avLst/>
          </a:prstGeom>
          <a:solidFill>
            <a:srgbClr val="0084D5"/>
          </a:solidFill>
          <a:ln>
            <a:solidFill>
              <a:srgbClr val="0084D5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Missão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1FD468A-2615-4451-AC71-607536F535D1}"/>
              </a:ext>
            </a:extLst>
          </p:cNvPr>
          <p:cNvSpPr/>
          <p:nvPr/>
        </p:nvSpPr>
        <p:spPr>
          <a:xfrm>
            <a:off x="204900" y="4318464"/>
            <a:ext cx="38381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Transformar o mercado financeiro para melhorar a vida das pessoas.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02C8FCA-047F-4BCF-9305-335835EE406D}"/>
              </a:ext>
            </a:extLst>
          </p:cNvPr>
          <p:cNvSpPr/>
          <p:nvPr/>
        </p:nvSpPr>
        <p:spPr>
          <a:xfrm>
            <a:off x="4349952" y="4318464"/>
            <a:ext cx="34920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Ser referência global em soluções financeiras sustentáveis.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9130BC4-D054-4143-83DC-7337C97A31EA}"/>
              </a:ext>
            </a:extLst>
          </p:cNvPr>
          <p:cNvSpPr/>
          <p:nvPr/>
        </p:nvSpPr>
        <p:spPr>
          <a:xfrm>
            <a:off x="8195562" y="4290472"/>
            <a:ext cx="38381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Espírito empreendedor, foco no cliente, exclusividade de produtos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7A7163F-2E6E-0C81-8F27-4B03970AB506}"/>
              </a:ext>
            </a:extLst>
          </p:cNvPr>
          <p:cNvSpPr/>
          <p:nvPr/>
        </p:nvSpPr>
        <p:spPr>
          <a:xfrm>
            <a:off x="4531384" y="1242581"/>
            <a:ext cx="3129232" cy="2060493"/>
          </a:xfrm>
          <a:prstGeom prst="roundRect">
            <a:avLst/>
          </a:prstGeom>
          <a:solidFill>
            <a:srgbClr val="0084D5"/>
          </a:solidFill>
          <a:ln>
            <a:solidFill>
              <a:srgbClr val="0084D5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Visão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48F4061-BB4C-949E-4AFC-4E7742612346}"/>
              </a:ext>
            </a:extLst>
          </p:cNvPr>
          <p:cNvSpPr/>
          <p:nvPr/>
        </p:nvSpPr>
        <p:spPr>
          <a:xfrm>
            <a:off x="8498893" y="1242581"/>
            <a:ext cx="3244795" cy="2060493"/>
          </a:xfrm>
          <a:prstGeom prst="roundRect">
            <a:avLst/>
          </a:prstGeom>
          <a:solidFill>
            <a:srgbClr val="0084D5"/>
          </a:solidFill>
          <a:ln>
            <a:solidFill>
              <a:srgbClr val="0084D5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>
                <a:latin typeface="Arial" panose="020B0604020202020204" pitchFamily="34" charset="0"/>
                <a:cs typeface="Arial" panose="020B0604020202020204" pitchFamily="34" charset="0"/>
              </a:rPr>
              <a:t>Valores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D4BB-BFC0-9DCC-4224-EBBEF67E0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ítulo 3">
            <a:extLst>
              <a:ext uri="{FF2B5EF4-FFF2-40B4-BE49-F238E27FC236}">
                <a16:creationId xmlns:a16="http://schemas.microsoft.com/office/drawing/2014/main" id="{73F94281-DD6B-5289-837C-345E99E29127}"/>
              </a:ext>
            </a:extLst>
          </p:cNvPr>
          <p:cNvSpPr txBox="1"/>
          <p:nvPr/>
        </p:nvSpPr>
        <p:spPr>
          <a:xfrm>
            <a:off x="483652" y="500306"/>
            <a:ext cx="9366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r>
              <a:rPr lang="pt-BR" sz="40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Organograma</a:t>
            </a:r>
            <a:endParaRPr lang="pt-BR" sz="4000" b="0" u="none" strike="noStrike" dirty="0">
              <a:solidFill>
                <a:schemeClr val="dk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 descr="Fatec Votorantim">
            <a:extLst>
              <a:ext uri="{FF2B5EF4-FFF2-40B4-BE49-F238E27FC236}">
                <a16:creationId xmlns:a16="http://schemas.microsoft.com/office/drawing/2014/main" id="{889B5507-0EE0-46A1-A2B9-AD9DCA7334A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687751" y="6253200"/>
            <a:ext cx="2308680" cy="6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m 8" descr="Ficheiro:XP Inc. Logo.svg – Wikipédia, a enciclopédia livre">
            <a:extLst>
              <a:ext uri="{FF2B5EF4-FFF2-40B4-BE49-F238E27FC236}">
                <a16:creationId xmlns:a16="http://schemas.microsoft.com/office/drawing/2014/main" id="{20B6C054-11A0-4F40-97E2-0DB94A9DD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433" y="123198"/>
            <a:ext cx="2119315" cy="490538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D3BE4F49-F10E-4A52-AEAE-74D2944307EB}"/>
              </a:ext>
            </a:extLst>
          </p:cNvPr>
          <p:cNvSpPr/>
          <p:nvPr/>
        </p:nvSpPr>
        <p:spPr>
          <a:xfrm>
            <a:off x="4427814" y="1063605"/>
            <a:ext cx="2949678" cy="688258"/>
          </a:xfrm>
          <a:prstGeom prst="roundRect">
            <a:avLst/>
          </a:prstGeom>
          <a:solidFill>
            <a:srgbClr val="0084D5"/>
          </a:solidFill>
          <a:ln>
            <a:solidFill>
              <a:srgbClr val="0084D5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PRESIDENTE DO CONSELHO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FF34A3D-6610-4E20-A432-4BEA9C347B70}"/>
              </a:ext>
            </a:extLst>
          </p:cNvPr>
          <p:cNvSpPr/>
          <p:nvPr/>
        </p:nvSpPr>
        <p:spPr>
          <a:xfrm>
            <a:off x="4427814" y="2232505"/>
            <a:ext cx="2949678" cy="688258"/>
          </a:xfrm>
          <a:prstGeom prst="roundRect">
            <a:avLst/>
          </a:prstGeom>
          <a:solidFill>
            <a:srgbClr val="0084D5"/>
          </a:solidFill>
          <a:ln>
            <a:solidFill>
              <a:srgbClr val="0084D5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CEO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6A8C2350-10CC-453F-9BC2-EA5375A93E4F}"/>
              </a:ext>
            </a:extLst>
          </p:cNvPr>
          <p:cNvSpPr/>
          <p:nvPr/>
        </p:nvSpPr>
        <p:spPr>
          <a:xfrm>
            <a:off x="4427814" y="3374854"/>
            <a:ext cx="2949678" cy="688258"/>
          </a:xfrm>
          <a:prstGeom prst="roundRect">
            <a:avLst/>
          </a:prstGeom>
          <a:solidFill>
            <a:srgbClr val="0084D5"/>
          </a:solidFill>
          <a:ln>
            <a:solidFill>
              <a:srgbClr val="0084D5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CFO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4369DCF0-86FB-45A0-971A-54135C9E10F5}"/>
              </a:ext>
            </a:extLst>
          </p:cNvPr>
          <p:cNvSpPr/>
          <p:nvPr/>
        </p:nvSpPr>
        <p:spPr>
          <a:xfrm>
            <a:off x="160708" y="4861148"/>
            <a:ext cx="2249260" cy="1159547"/>
          </a:xfrm>
          <a:prstGeom prst="roundRect">
            <a:avLst/>
          </a:prstGeom>
          <a:solidFill>
            <a:srgbClr val="0084D5"/>
          </a:solidFill>
          <a:ln>
            <a:solidFill>
              <a:srgbClr val="0084D5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ASSESSORIA DE INVESTIMENTO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50EB8708-6D0D-4EDA-9CC5-62C2CE249C0C}"/>
              </a:ext>
            </a:extLst>
          </p:cNvPr>
          <p:cNvCxnSpPr>
            <a:stCxn id="2" idx="2"/>
            <a:endCxn id="20" idx="0"/>
          </p:cNvCxnSpPr>
          <p:nvPr/>
        </p:nvCxnSpPr>
        <p:spPr>
          <a:xfrm>
            <a:off x="5902653" y="1751863"/>
            <a:ext cx="0" cy="48064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3D96D8BE-F1B7-4F4D-96B1-EAF62BDD6696}"/>
              </a:ext>
            </a:extLst>
          </p:cNvPr>
          <p:cNvCxnSpPr/>
          <p:nvPr/>
        </p:nvCxnSpPr>
        <p:spPr>
          <a:xfrm>
            <a:off x="5900942" y="2900853"/>
            <a:ext cx="0" cy="48064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60AF7E64-89BC-4EDD-9189-E00C56D4A792}"/>
              </a:ext>
            </a:extLst>
          </p:cNvPr>
          <p:cNvCxnSpPr>
            <a:cxnSpLocks/>
          </p:cNvCxnSpPr>
          <p:nvPr/>
        </p:nvCxnSpPr>
        <p:spPr>
          <a:xfrm>
            <a:off x="987157" y="4369063"/>
            <a:ext cx="9922793" cy="79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9769573E-EC00-4640-AAA6-601D78E6073D}"/>
              </a:ext>
            </a:extLst>
          </p:cNvPr>
          <p:cNvCxnSpPr/>
          <p:nvPr/>
        </p:nvCxnSpPr>
        <p:spPr>
          <a:xfrm>
            <a:off x="987157" y="4369063"/>
            <a:ext cx="0" cy="48064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17D2BED2-6969-4BB9-8B1E-3FDDA93959EF}"/>
              </a:ext>
            </a:extLst>
          </p:cNvPr>
          <p:cNvCxnSpPr/>
          <p:nvPr/>
        </p:nvCxnSpPr>
        <p:spPr>
          <a:xfrm>
            <a:off x="3601365" y="4376978"/>
            <a:ext cx="0" cy="480642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9E63DFAE-8075-47F5-909C-41924AC10B98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5902653" y="4063112"/>
            <a:ext cx="5448" cy="87147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CFB30894-CECF-42F8-B776-988F212471A0}"/>
              </a:ext>
            </a:extLst>
          </p:cNvPr>
          <p:cNvCxnSpPr>
            <a:cxnSpLocks/>
          </p:cNvCxnSpPr>
          <p:nvPr/>
        </p:nvCxnSpPr>
        <p:spPr>
          <a:xfrm>
            <a:off x="8420493" y="4376978"/>
            <a:ext cx="0" cy="49776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5688873D-F89D-4364-ABEE-AF5973B1D91B}"/>
              </a:ext>
            </a:extLst>
          </p:cNvPr>
          <p:cNvCxnSpPr>
            <a:cxnSpLocks/>
          </p:cNvCxnSpPr>
          <p:nvPr/>
        </p:nvCxnSpPr>
        <p:spPr>
          <a:xfrm>
            <a:off x="10909950" y="4376978"/>
            <a:ext cx="0" cy="496056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BE1506B5-B4D1-4B94-809A-674DD516A708}"/>
              </a:ext>
            </a:extLst>
          </p:cNvPr>
          <p:cNvSpPr/>
          <p:nvPr/>
        </p:nvSpPr>
        <p:spPr>
          <a:xfrm>
            <a:off x="2650289" y="4880674"/>
            <a:ext cx="1931818" cy="1167678"/>
          </a:xfrm>
          <a:prstGeom prst="roundRect">
            <a:avLst/>
          </a:prstGeom>
          <a:solidFill>
            <a:srgbClr val="0084D5"/>
          </a:solidFill>
          <a:ln>
            <a:solidFill>
              <a:srgbClr val="0084D5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EDUCAÇÃO FINANCEIRA</a:t>
            </a:r>
          </a:p>
        </p:txBody>
      </p:sp>
      <p:sp>
        <p:nvSpPr>
          <p:cNvPr id="51" name="Retângulo: Cantos Arredondados 50">
            <a:extLst>
              <a:ext uri="{FF2B5EF4-FFF2-40B4-BE49-F238E27FC236}">
                <a16:creationId xmlns:a16="http://schemas.microsoft.com/office/drawing/2014/main" id="{5321479D-813D-4D7C-A60E-17684AA9F2B6}"/>
              </a:ext>
            </a:extLst>
          </p:cNvPr>
          <p:cNvSpPr/>
          <p:nvPr/>
        </p:nvSpPr>
        <p:spPr>
          <a:xfrm>
            <a:off x="4992725" y="4863531"/>
            <a:ext cx="2119314" cy="1186325"/>
          </a:xfrm>
          <a:prstGeom prst="roundRect">
            <a:avLst/>
          </a:prstGeom>
          <a:solidFill>
            <a:srgbClr val="0084D5"/>
          </a:solidFill>
          <a:ln>
            <a:solidFill>
              <a:srgbClr val="0084D5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TECNOLOGIA E INOVAÇÃO</a:t>
            </a:r>
          </a:p>
        </p:txBody>
      </p:sp>
      <p:sp>
        <p:nvSpPr>
          <p:cNvPr id="52" name="Retângulo: Cantos Arredondados 51">
            <a:extLst>
              <a:ext uri="{FF2B5EF4-FFF2-40B4-BE49-F238E27FC236}">
                <a16:creationId xmlns:a16="http://schemas.microsoft.com/office/drawing/2014/main" id="{B7DA7D68-FD38-4841-B538-57A0F96D467F}"/>
              </a:ext>
            </a:extLst>
          </p:cNvPr>
          <p:cNvSpPr/>
          <p:nvPr/>
        </p:nvSpPr>
        <p:spPr>
          <a:xfrm>
            <a:off x="9782433" y="4837481"/>
            <a:ext cx="2242713" cy="1210872"/>
          </a:xfrm>
          <a:prstGeom prst="roundRect">
            <a:avLst/>
          </a:prstGeom>
          <a:solidFill>
            <a:srgbClr val="0084D5"/>
          </a:solidFill>
          <a:ln>
            <a:solidFill>
              <a:srgbClr val="0084D5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SUPORTE CORPORATIVO</a:t>
            </a:r>
          </a:p>
        </p:txBody>
      </p:sp>
      <p:sp>
        <p:nvSpPr>
          <p:cNvPr id="53" name="Retângulo: Cantos Arredondados 52">
            <a:extLst>
              <a:ext uri="{FF2B5EF4-FFF2-40B4-BE49-F238E27FC236}">
                <a16:creationId xmlns:a16="http://schemas.microsoft.com/office/drawing/2014/main" id="{E4261E13-0A14-4C29-A2A3-BE8229FEEB59}"/>
              </a:ext>
            </a:extLst>
          </p:cNvPr>
          <p:cNvSpPr/>
          <p:nvPr/>
        </p:nvSpPr>
        <p:spPr>
          <a:xfrm>
            <a:off x="7487284" y="4853024"/>
            <a:ext cx="1931818" cy="1167678"/>
          </a:xfrm>
          <a:prstGeom prst="roundRect">
            <a:avLst/>
          </a:prstGeom>
          <a:solidFill>
            <a:srgbClr val="0084D5"/>
          </a:solidFill>
          <a:ln>
            <a:solidFill>
              <a:srgbClr val="0084D5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pt-BR" sz="2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CAPITAL E MARKET</a:t>
            </a:r>
          </a:p>
        </p:txBody>
      </p:sp>
    </p:spTree>
    <p:extLst>
      <p:ext uri="{BB962C8B-B14F-4D97-AF65-F5344CB8AC3E}">
        <p14:creationId xmlns:p14="http://schemas.microsoft.com/office/powerpoint/2010/main" val="3686922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>
            <a:extLst>
              <a:ext uri="{FF2B5EF4-FFF2-40B4-BE49-F238E27FC236}">
                <a16:creationId xmlns:a16="http://schemas.microsoft.com/office/drawing/2014/main" id="{EB894DDE-D529-4A16-92D4-20C17F26FAE4}"/>
              </a:ext>
            </a:extLst>
          </p:cNvPr>
          <p:cNvSpPr txBox="1">
            <a:spLocks/>
          </p:cNvSpPr>
          <p:nvPr/>
        </p:nvSpPr>
        <p:spPr>
          <a:xfrm>
            <a:off x="459519" y="547415"/>
            <a:ext cx="8223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4000" b="1" dirty="0">
                <a:solidFill>
                  <a:schemeClr val="dk1"/>
                </a:solidFill>
                <a:latin typeface="Bierstadt"/>
              </a:rPr>
              <a:t>Principais Produtos</a:t>
            </a:r>
            <a:endParaRPr lang="pt-BR" sz="4000" dirty="0">
              <a:solidFill>
                <a:schemeClr val="dk1"/>
              </a:solidFill>
              <a:latin typeface="Bierstadt"/>
            </a:endParaRPr>
          </a:p>
        </p:txBody>
      </p:sp>
      <p:pic>
        <p:nvPicPr>
          <p:cNvPr id="13" name="Picture 2" descr="Fatec Votorantim">
            <a:extLst>
              <a:ext uri="{FF2B5EF4-FFF2-40B4-BE49-F238E27FC236}">
                <a16:creationId xmlns:a16="http://schemas.microsoft.com/office/drawing/2014/main" id="{AB2769C5-A85F-417A-A7A9-BCACE0F85EF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687751" y="6253200"/>
            <a:ext cx="2308680" cy="6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Imagem 13" descr="Ficheiro:XP Inc. Logo.svg – Wikipédia, a enciclopédia livre">
            <a:extLst>
              <a:ext uri="{FF2B5EF4-FFF2-40B4-BE49-F238E27FC236}">
                <a16:creationId xmlns:a16="http://schemas.microsoft.com/office/drawing/2014/main" id="{88012D91-A2A1-42FC-A3E7-B44BF4008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433" y="123198"/>
            <a:ext cx="2119315" cy="490538"/>
          </a:xfrm>
          <a:prstGeom prst="rect">
            <a:avLst/>
          </a:prstGeom>
        </p:spPr>
      </p:pic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0175F43-101E-4956-A482-AC5D4C9D8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898726"/>
              </p:ext>
            </p:extLst>
          </p:nvPr>
        </p:nvGraphicFramePr>
        <p:xfrm>
          <a:off x="548010" y="1397846"/>
          <a:ext cx="10414958" cy="4393351"/>
        </p:xfrm>
        <a:graphic>
          <a:graphicData uri="http://schemas.openxmlformats.org/drawingml/2006/table">
            <a:tbl>
              <a:tblPr/>
              <a:tblGrid>
                <a:gridCol w="3633413">
                  <a:extLst>
                    <a:ext uri="{9D8B030D-6E8A-4147-A177-3AD203B41FA5}">
                      <a16:colId xmlns:a16="http://schemas.microsoft.com/office/drawing/2014/main" val="3911781686"/>
                    </a:ext>
                  </a:extLst>
                </a:gridCol>
                <a:gridCol w="3583642">
                  <a:extLst>
                    <a:ext uri="{9D8B030D-6E8A-4147-A177-3AD203B41FA5}">
                      <a16:colId xmlns:a16="http://schemas.microsoft.com/office/drawing/2014/main" val="3410641917"/>
                    </a:ext>
                  </a:extLst>
                </a:gridCol>
                <a:gridCol w="3197903">
                  <a:extLst>
                    <a:ext uri="{9D8B030D-6E8A-4147-A177-3AD203B41FA5}">
                      <a16:colId xmlns:a16="http://schemas.microsoft.com/office/drawing/2014/main" val="3305259980"/>
                    </a:ext>
                  </a:extLst>
                </a:gridCol>
              </a:tblGrid>
              <a:tr h="353159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Investimentos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84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Serviços Financeiros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84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Plataforma e Tecnologia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8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689850"/>
                  </a:ext>
                </a:extLst>
              </a:tr>
              <a:tr h="555247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Renda Fixa: CDB, LCI, LCA, Tesouro Direto, Debêntures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 Private:  Gestão de patrimônio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Home Broker e App XP: Investimentos online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9779291"/>
                  </a:ext>
                </a:extLst>
              </a:tr>
              <a:tr h="555247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Renda Variável: Ações, </a:t>
                      </a:r>
                      <a:r>
                        <a:rPr lang="pt-BR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ETFs</a:t>
                      </a:r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pt-BR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FIIs</a:t>
                      </a:r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pt-BR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BDRs</a:t>
                      </a:r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pt-BR" sz="15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COEs</a:t>
                      </a:r>
                      <a:endParaRPr lang="pt-BR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Assessoria de Investimentos: Rede de assessores autônomos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 Token: Segurança digital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595949"/>
                  </a:ext>
                </a:extLst>
              </a:tr>
              <a:tr h="704005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Fundos de Investimento: Multimercados, Ações, Cambiais etc.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Carteiras Administradas: Estratégias com gestão profissional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 Expert: Conteúdo e eventos de educação financeira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728564"/>
                  </a:ext>
                </a:extLst>
              </a:tr>
              <a:tr h="555247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Criptoativos: Fundos e ETFs com exposição a criptomoedas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Relatórios e Research: Análises de mercado exclusivas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8516688"/>
                  </a:ext>
                </a:extLst>
              </a:tr>
              <a:tr h="279976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154653"/>
                  </a:ext>
                </a:extLst>
              </a:tr>
              <a:tr h="279976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Educação Financeira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84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Soluções para Empresas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84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Seguros e Previdência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8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090582"/>
                  </a:ext>
                </a:extLst>
              </a:tr>
              <a:tr h="555247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 Educação: Cursos e certificações (CPA, CEA etc.)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 Empresas: Investimentos corporativos, gestão de caixa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XP Seguros: Vida, residência, empresarial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4761929"/>
                  </a:ext>
                </a:extLst>
              </a:tr>
              <a:tr h="555247"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InfoMoney: Portal de notícias e análises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Banco de Investimento: IPOs, fusões, aquisições, debêntures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Previdência XP: Produtos com gestão especializada</a:t>
                      </a:r>
                    </a:p>
                  </a:txBody>
                  <a:tcPr marL="3907" marR="3907" marT="3907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4244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a16:creationId xmlns:a16="http://schemas.microsoft.com/office/drawing/2014/main" id="{557C143E-DC8C-41A6-95FE-9FEE696CD29C}"/>
              </a:ext>
            </a:extLst>
          </p:cNvPr>
          <p:cNvSpPr txBox="1">
            <a:spLocks/>
          </p:cNvSpPr>
          <p:nvPr/>
        </p:nvSpPr>
        <p:spPr>
          <a:xfrm>
            <a:off x="459519" y="591708"/>
            <a:ext cx="8223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4000" b="1" dirty="0">
                <a:solidFill>
                  <a:schemeClr val="dk1"/>
                </a:solidFill>
                <a:latin typeface="Bierstadt"/>
              </a:rPr>
              <a:t>Principais Clientes</a:t>
            </a:r>
            <a:endParaRPr lang="pt-BR" sz="4000" dirty="0">
              <a:solidFill>
                <a:schemeClr val="dk1"/>
              </a:solidFill>
              <a:latin typeface="Bierstadt"/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FB1E2C37-E718-4CCE-8C8A-A3F0ACA54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7425537"/>
              </p:ext>
            </p:extLst>
          </p:nvPr>
        </p:nvGraphicFramePr>
        <p:xfrm>
          <a:off x="629265" y="1426548"/>
          <a:ext cx="11103216" cy="4780432"/>
        </p:xfrm>
        <a:graphic>
          <a:graphicData uri="http://schemas.openxmlformats.org/drawingml/2006/table">
            <a:tbl>
              <a:tblPr firstRow="1" firstCol="1">
                <a:tableStyleId>{5940675A-B579-460E-94D1-54222C63F5DA}</a:tableStyleId>
              </a:tblPr>
              <a:tblGrid>
                <a:gridCol w="3707626">
                  <a:extLst>
                    <a:ext uri="{9D8B030D-6E8A-4147-A177-3AD203B41FA5}">
                      <a16:colId xmlns:a16="http://schemas.microsoft.com/office/drawing/2014/main" val="3270591859"/>
                    </a:ext>
                  </a:extLst>
                </a:gridCol>
                <a:gridCol w="3697795">
                  <a:extLst>
                    <a:ext uri="{9D8B030D-6E8A-4147-A177-3AD203B41FA5}">
                      <a16:colId xmlns:a16="http://schemas.microsoft.com/office/drawing/2014/main" val="247942547"/>
                    </a:ext>
                  </a:extLst>
                </a:gridCol>
                <a:gridCol w="3697795">
                  <a:extLst>
                    <a:ext uri="{9D8B030D-6E8A-4147-A177-3AD203B41FA5}">
                      <a16:colId xmlns:a16="http://schemas.microsoft.com/office/drawing/2014/main" val="691261899"/>
                    </a:ext>
                  </a:extLst>
                </a:gridCol>
              </a:tblGrid>
              <a:tr h="329026">
                <a:tc>
                  <a:txBody>
                    <a:bodyPr/>
                    <a:lstStyle/>
                    <a:p>
                      <a:r>
                        <a:rPr lang="pt-BR" sz="15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Tipo de Cliente</a:t>
                      </a:r>
                    </a:p>
                  </a:txBody>
                  <a:tcPr marL="75023" marR="75023" marT="37512" marB="37512" anchor="ctr">
                    <a:solidFill>
                      <a:srgbClr val="0084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solidFill>
                      <a:srgbClr val="0084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Principais Produtos e Serviços</a:t>
                      </a:r>
                    </a:p>
                  </a:txBody>
                  <a:tcPr marL="75023" marR="75023" marT="37512" marB="37512" anchor="ctr">
                    <a:solidFill>
                      <a:srgbClr val="008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85901"/>
                  </a:ext>
                </a:extLst>
              </a:tr>
              <a:tr h="576751">
                <a:tc>
                  <a:txBody>
                    <a:bodyPr/>
                    <a:lstStyle/>
                    <a:p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Pessoa Física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Investidores individuais (iniciantes ou experientes)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Renda fixa, ações, fundos, previdência, COE, </a:t>
                      </a:r>
                      <a:r>
                        <a:rPr lang="pt-BR" sz="1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cripto</a:t>
                      </a:r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XP App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411647224"/>
                  </a:ext>
                </a:extLst>
              </a:tr>
              <a:tr h="824476">
                <a:tc>
                  <a:txBody>
                    <a:bodyPr/>
                    <a:lstStyle/>
                    <a:p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Alta Renda / XP Private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Clientes com grande patrimônio (HNWI)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Gestão de patrimônio, fundos exclusivos, planejamento sucessório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1012290952"/>
                  </a:ext>
                </a:extLst>
              </a:tr>
              <a:tr h="824476">
                <a:tc>
                  <a:txBody>
                    <a:bodyPr/>
                    <a:lstStyle/>
                    <a:p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Empresas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Pequenas, médias e grandes empresas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Investimentos corporativos, previdência empresarial, crédito, tesouraria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806232384"/>
                  </a:ext>
                </a:extLst>
              </a:tr>
              <a:tr h="576751">
                <a:tc>
                  <a:txBody>
                    <a:bodyPr/>
                    <a:lstStyle/>
                    <a:p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Institucionais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Fundos de pensão, seguradoras, family offices, gestoras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Corretagem institucional, estruturação, derivativos, fundos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289023388"/>
                  </a:ext>
                </a:extLst>
              </a:tr>
              <a:tr h="824476">
                <a:tc>
                  <a:txBody>
                    <a:bodyPr/>
                    <a:lstStyle/>
                    <a:p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Banco de Investimento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Grandes empresas que buscam captação no mercado financeiro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1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IPOs</a:t>
                      </a:r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lang="pt-BR" sz="15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M&amp;As</a:t>
                      </a:r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emissão de debêntures, estruturação de dívidas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4206089197"/>
                  </a:ext>
                </a:extLst>
              </a:tr>
              <a:tr h="824476">
                <a:tc>
                  <a:txBody>
                    <a:bodyPr/>
                    <a:lstStyle/>
                    <a:p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Agentes Autônomos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15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Consultores parceiros que atuam na distribuição de produtos XP</a:t>
                      </a:r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pt-BR" sz="15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Plataforma de assessoria, suporte, comissões, capacitação, XP Educação</a:t>
                      </a:r>
                    </a:p>
                  </a:txBody>
                  <a:tcPr marL="75023" marR="75023" marT="37512" marB="37512" anchor="ctr"/>
                </a:tc>
                <a:extLst>
                  <a:ext uri="{0D108BD9-81ED-4DB2-BD59-A6C34878D82A}">
                    <a16:rowId xmlns:a16="http://schemas.microsoft.com/office/drawing/2014/main" val="376133473"/>
                  </a:ext>
                </a:extLst>
              </a:tr>
            </a:tbl>
          </a:graphicData>
        </a:graphic>
      </p:graphicFrame>
      <p:pic>
        <p:nvPicPr>
          <p:cNvPr id="10" name="Picture 2" descr="Fatec Votorantim">
            <a:extLst>
              <a:ext uri="{FF2B5EF4-FFF2-40B4-BE49-F238E27FC236}">
                <a16:creationId xmlns:a16="http://schemas.microsoft.com/office/drawing/2014/main" id="{7791ABD8-B225-4339-A03A-67F8726333E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687751" y="6253200"/>
            <a:ext cx="2308680" cy="6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Imagem 10" descr="Ficheiro:XP Inc. Logo.svg – Wikipédia, a enciclopédia livre">
            <a:extLst>
              <a:ext uri="{FF2B5EF4-FFF2-40B4-BE49-F238E27FC236}">
                <a16:creationId xmlns:a16="http://schemas.microsoft.com/office/drawing/2014/main" id="{3FDC2A10-7D71-4C9B-830C-3BF09AD20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433" y="123198"/>
            <a:ext cx="2119315" cy="49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355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a16:creationId xmlns:a16="http://schemas.microsoft.com/office/drawing/2014/main" id="{95054389-DE14-46CA-B369-3BBAF2351908}"/>
              </a:ext>
            </a:extLst>
          </p:cNvPr>
          <p:cNvSpPr txBox="1">
            <a:spLocks/>
          </p:cNvSpPr>
          <p:nvPr/>
        </p:nvSpPr>
        <p:spPr>
          <a:xfrm>
            <a:off x="587339" y="817849"/>
            <a:ext cx="8223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4000" b="1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Principais concorrentes</a:t>
            </a:r>
          </a:p>
          <a:p>
            <a:pPr>
              <a:lnSpc>
                <a:spcPct val="100000"/>
              </a:lnSpc>
            </a:pPr>
            <a:endParaRPr lang="pt-BR" sz="4000" dirty="0">
              <a:solidFill>
                <a:schemeClr val="dk1"/>
              </a:solidFill>
              <a:latin typeface="Bierstadt"/>
            </a:endParaRPr>
          </a:p>
        </p:txBody>
      </p:sp>
      <p:pic>
        <p:nvPicPr>
          <p:cNvPr id="10" name="Picture 2" descr="Fatec Votorantim">
            <a:extLst>
              <a:ext uri="{FF2B5EF4-FFF2-40B4-BE49-F238E27FC236}">
                <a16:creationId xmlns:a16="http://schemas.microsoft.com/office/drawing/2014/main" id="{F2D014BB-E2C9-4D8E-9DF4-517F4BDF35B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687751" y="6253200"/>
            <a:ext cx="2308680" cy="6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Imagem 10" descr="Ficheiro:XP Inc. Logo.svg – Wikipédia, a enciclopédia livre">
            <a:extLst>
              <a:ext uri="{FF2B5EF4-FFF2-40B4-BE49-F238E27FC236}">
                <a16:creationId xmlns:a16="http://schemas.microsoft.com/office/drawing/2014/main" id="{556B8BB2-3FFA-4896-8F26-5774665C3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433" y="123198"/>
            <a:ext cx="2119315" cy="49053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AB8D335-8913-E114-B77D-1E3BB4C73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124" y="2181564"/>
            <a:ext cx="2980013" cy="249487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FDC1D9D-ECBB-DAF4-A1FD-01F9FBCDF3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97" y="2162942"/>
            <a:ext cx="2980013" cy="2501803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CDA9DACF-25C8-B234-5F0F-A6DEBBCD65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1375" y="2181564"/>
            <a:ext cx="2980013" cy="2494872"/>
          </a:xfrm>
          <a:prstGeom prst="rect">
            <a:avLst/>
          </a:prstGeom>
        </p:spPr>
      </p:pic>
      <p:sp>
        <p:nvSpPr>
          <p:cNvPr id="21" name="CaixaDeTexto 20">
            <a:extLst>
              <a:ext uri="{FF2B5EF4-FFF2-40B4-BE49-F238E27FC236}">
                <a16:creationId xmlns:a16="http://schemas.microsoft.com/office/drawing/2014/main" id="{C5A2E85D-4328-147C-002B-C80CB9E9D999}"/>
              </a:ext>
            </a:extLst>
          </p:cNvPr>
          <p:cNvSpPr txBox="1"/>
          <p:nvPr/>
        </p:nvSpPr>
        <p:spPr>
          <a:xfrm>
            <a:off x="1247971" y="5123283"/>
            <a:ext cx="2027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Nubenk</a:t>
            </a:r>
            <a:endParaRPr lang="pt-BR" sz="24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EA495CB-215E-77C3-AB29-19F69F36B2FC}"/>
              </a:ext>
            </a:extLst>
          </p:cNvPr>
          <p:cNvSpPr txBox="1"/>
          <p:nvPr/>
        </p:nvSpPr>
        <p:spPr>
          <a:xfrm>
            <a:off x="4961164" y="5123283"/>
            <a:ext cx="2027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BTG </a:t>
            </a:r>
            <a:r>
              <a:rPr lang="pt-BR" sz="2400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Parctual</a:t>
            </a:r>
            <a:endParaRPr lang="pt-BR" sz="2400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7BCEFF6-331E-8560-E347-98FC9BE037BD}"/>
              </a:ext>
            </a:extLst>
          </p:cNvPr>
          <p:cNvSpPr txBox="1"/>
          <p:nvPr/>
        </p:nvSpPr>
        <p:spPr>
          <a:xfrm>
            <a:off x="8916954" y="5123282"/>
            <a:ext cx="20270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Banco Inter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58097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>
            <a:extLst>
              <a:ext uri="{FF2B5EF4-FFF2-40B4-BE49-F238E27FC236}">
                <a16:creationId xmlns:a16="http://schemas.microsoft.com/office/drawing/2014/main" id="{86334648-AFC4-4E0E-BC2E-3DEEFFB1FD98}"/>
              </a:ext>
            </a:extLst>
          </p:cNvPr>
          <p:cNvSpPr txBox="1">
            <a:spLocks/>
          </p:cNvSpPr>
          <p:nvPr/>
        </p:nvSpPr>
        <p:spPr>
          <a:xfrm>
            <a:off x="459519" y="727586"/>
            <a:ext cx="8223480" cy="698961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4000" b="1" dirty="0">
                <a:solidFill>
                  <a:schemeClr val="dk1"/>
                </a:solidFill>
                <a:latin typeface="Bierstadt"/>
              </a:rPr>
              <a:t>Comparação entre os critérios</a:t>
            </a:r>
            <a:endParaRPr lang="pt-BR" sz="4000" dirty="0">
              <a:solidFill>
                <a:schemeClr val="dk1"/>
              </a:solidFill>
              <a:latin typeface="Bierstadt"/>
            </a:endParaRP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3F44F072-541E-42DC-A283-301521665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498043"/>
              </p:ext>
            </p:extLst>
          </p:nvPr>
        </p:nvGraphicFramePr>
        <p:xfrm>
          <a:off x="615165" y="1548483"/>
          <a:ext cx="9658992" cy="4609027"/>
        </p:xfrm>
        <a:graphic>
          <a:graphicData uri="http://schemas.openxmlformats.org/drawingml/2006/table">
            <a:tbl>
              <a:tblPr/>
              <a:tblGrid>
                <a:gridCol w="3219664">
                  <a:extLst>
                    <a:ext uri="{9D8B030D-6E8A-4147-A177-3AD203B41FA5}">
                      <a16:colId xmlns:a16="http://schemas.microsoft.com/office/drawing/2014/main" val="3728361860"/>
                    </a:ext>
                  </a:extLst>
                </a:gridCol>
                <a:gridCol w="3219664">
                  <a:extLst>
                    <a:ext uri="{9D8B030D-6E8A-4147-A177-3AD203B41FA5}">
                      <a16:colId xmlns:a16="http://schemas.microsoft.com/office/drawing/2014/main" val="675241707"/>
                    </a:ext>
                  </a:extLst>
                </a:gridCol>
                <a:gridCol w="3219664">
                  <a:extLst>
                    <a:ext uri="{9D8B030D-6E8A-4147-A177-3AD203B41FA5}">
                      <a16:colId xmlns:a16="http://schemas.microsoft.com/office/drawing/2014/main" val="3262518667"/>
                    </a:ext>
                  </a:extLst>
                </a:gridCol>
              </a:tblGrid>
              <a:tr h="1070977"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18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CRITÉRIOS DE CLASSIFICAÇÃO​</a:t>
                      </a:r>
                      <a:endParaRPr lang="pt-BR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8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18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XP Investimentos</a:t>
                      </a:r>
                      <a:endParaRPr lang="pt-BR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8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pt-BR" sz="1800" b="1" i="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BTG Pactual</a:t>
                      </a:r>
                    </a:p>
                    <a:p>
                      <a:pPr algn="ctr" fontAlgn="base"/>
                      <a:endParaRPr lang="pt-BR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8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861880"/>
                  </a:ext>
                </a:extLst>
              </a:tr>
              <a:tr h="1179350">
                <a:tc>
                  <a:txBody>
                    <a:bodyPr/>
                    <a:lstStyle/>
                    <a:p>
                      <a:pPr algn="l" fontAlgn="base"/>
                      <a:r>
                        <a:rPr lang="pt-B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GANHADORES DE PEDIDO​</a:t>
                      </a:r>
                      <a:endParaRPr lang="pt-B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8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pt-BR" dirty="0"/>
                        <a:t>Interface intuitiva</a:t>
                      </a:r>
                    </a:p>
                    <a:p>
                      <a:pPr algn="l" fontAlgn="auto"/>
                      <a:r>
                        <a:rPr lang="pt-BR" dirty="0"/>
                        <a:t>foco em PF </a:t>
                      </a:r>
                    </a:p>
                    <a:p>
                      <a:pPr algn="l" fontAlgn="auto"/>
                      <a:r>
                        <a:rPr lang="pt-BR" dirty="0"/>
                        <a:t>Onboarding simples</a:t>
                      </a:r>
                      <a:endParaRPr lang="pt-BR" sz="18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8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pt-BR" dirty="0"/>
                        <a:t>Pode exigir tickets maiores dependendo do segmento</a:t>
                      </a:r>
                      <a:endParaRPr lang="pt-BR" sz="18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8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93456"/>
                  </a:ext>
                </a:extLst>
              </a:tr>
              <a:tr h="1179350">
                <a:tc>
                  <a:txBody>
                    <a:bodyPr/>
                    <a:lstStyle/>
                    <a:p>
                      <a:pPr algn="l" fontAlgn="base"/>
                      <a:r>
                        <a:rPr lang="pt-B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QUALIFICADORES​</a:t>
                      </a:r>
                      <a:endParaRPr lang="pt-B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pt-BR" dirty="0"/>
                        <a:t>Ampla gama de produtos </a:t>
                      </a:r>
                    </a:p>
                    <a:p>
                      <a:pPr algn="l" fontAlgn="auto"/>
                      <a:r>
                        <a:rPr lang="pt-BR" dirty="0"/>
                        <a:t>(renda fixa, variável, fundos, etc.)</a:t>
                      </a:r>
                      <a:endParaRPr lang="pt-BR" sz="18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pt-BR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r>
                        <a:rPr lang="pt-BR" dirty="0"/>
                        <a:t>Também ampla</a:t>
                      </a:r>
                    </a:p>
                    <a:p>
                      <a:pPr algn="l" fontAlgn="auto"/>
                      <a:r>
                        <a:rPr lang="pt-BR" dirty="0"/>
                        <a:t>com maior foco em produtos estruturados</a:t>
                      </a:r>
                      <a:endParaRPr lang="pt-BR" sz="18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879436"/>
                  </a:ext>
                </a:extLst>
              </a:tr>
              <a:tr h="1179350">
                <a:tc>
                  <a:txBody>
                    <a:bodyPr/>
                    <a:lstStyle/>
                    <a:p>
                      <a:pPr algn="l" fontAlgn="base"/>
                      <a:r>
                        <a:rPr lang="pt-BR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MENOS IMPORTANTES​</a:t>
                      </a:r>
                      <a:endParaRPr lang="pt-BR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pt-BR" dirty="0"/>
                        <a:t>Marca jovem</a:t>
                      </a:r>
                    </a:p>
                    <a:p>
                      <a:pPr algn="l" fontAlgn="auto"/>
                      <a:r>
                        <a:rPr lang="pt-BR" dirty="0"/>
                        <a:t>reconhecida no varejo</a:t>
                      </a:r>
                      <a:endParaRPr lang="pt-BR" sz="18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pt-BR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r>
                        <a:rPr lang="pt-BR" dirty="0"/>
                        <a:t>Marca consolidada</a:t>
                      </a:r>
                    </a:p>
                    <a:p>
                      <a:pPr algn="l" fontAlgn="auto"/>
                      <a:r>
                        <a:rPr lang="pt-BR" dirty="0"/>
                        <a:t>forte no mercado institucional</a:t>
                      </a:r>
                      <a:endParaRPr lang="pt-BR" sz="18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178269"/>
                  </a:ext>
                </a:extLst>
              </a:tr>
            </a:tbl>
          </a:graphicData>
        </a:graphic>
      </p:graphicFrame>
      <p:sp>
        <p:nvSpPr>
          <p:cNvPr id="15" name="Rectangle 3">
            <a:extLst>
              <a:ext uri="{FF2B5EF4-FFF2-40B4-BE49-F238E27FC236}">
                <a16:creationId xmlns:a16="http://schemas.microsoft.com/office/drawing/2014/main" id="{7B4BF0ED-0E95-49B9-9431-FD4B9B0DA8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65" y="167891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FDA8F274-218C-4B92-9C6B-ADC826A34C3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687751" y="6253200"/>
            <a:ext cx="2308680" cy="6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Imagem 6" descr="Ficheiro:XP Inc. Logo.svg – Wikipédia, a enciclopédia livre">
            <a:extLst>
              <a:ext uri="{FF2B5EF4-FFF2-40B4-BE49-F238E27FC236}">
                <a16:creationId xmlns:a16="http://schemas.microsoft.com/office/drawing/2014/main" id="{F8ADB904-DAB2-4CE0-90DA-8349BE9F4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433" y="123198"/>
            <a:ext cx="2119315" cy="49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186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0F246-FBAB-8162-F32D-AAA26999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ítulo 3">
            <a:extLst>
              <a:ext uri="{FF2B5EF4-FFF2-40B4-BE49-F238E27FC236}">
                <a16:creationId xmlns:a16="http://schemas.microsoft.com/office/drawing/2014/main" id="{DC481FB8-D6E8-2EAA-6C94-8EEA01BD1C03}"/>
              </a:ext>
            </a:extLst>
          </p:cNvPr>
          <p:cNvSpPr txBox="1"/>
          <p:nvPr/>
        </p:nvSpPr>
        <p:spPr>
          <a:xfrm>
            <a:off x="508680" y="689400"/>
            <a:ext cx="9366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r>
              <a:rPr lang="pt-BR" sz="4000" b="1" u="none" strike="noStrike" dirty="0">
                <a:solidFill>
                  <a:schemeClr val="dk1"/>
                </a:solidFill>
                <a:effectLst/>
                <a:uFillTx/>
                <a:latin typeface="Arial" panose="020B0604020202020204" pitchFamily="34" charset="0"/>
                <a:cs typeface="Arial" panose="020B0604020202020204" pitchFamily="34" charset="0"/>
              </a:rPr>
              <a:t>SWOT	</a:t>
            </a:r>
          </a:p>
          <a:p>
            <a:pPr defTabSz="914400">
              <a:lnSpc>
                <a:spcPct val="100000"/>
              </a:lnSpc>
            </a:pPr>
            <a:endParaRPr lang="pt-BR" sz="5400" b="0" u="none" strike="noStrike" dirty="0">
              <a:solidFill>
                <a:schemeClr val="dk1"/>
              </a:solidFill>
              <a:effectLst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 descr="Fatec Votorantim">
            <a:extLst>
              <a:ext uri="{FF2B5EF4-FFF2-40B4-BE49-F238E27FC236}">
                <a16:creationId xmlns:a16="http://schemas.microsoft.com/office/drawing/2014/main" id="{50412609-2413-40EE-8A31-02098019B96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687751" y="6253200"/>
            <a:ext cx="2308680" cy="6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" name="Imagem 8" descr="Ficheiro:XP Inc. Logo.svg – Wikipédia, a enciclopédia livre">
            <a:extLst>
              <a:ext uri="{FF2B5EF4-FFF2-40B4-BE49-F238E27FC236}">
                <a16:creationId xmlns:a16="http://schemas.microsoft.com/office/drawing/2014/main" id="{A4E279C1-4F4E-4BA9-BAD4-01B8925E0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2433" y="123198"/>
            <a:ext cx="2119315" cy="490538"/>
          </a:xfrm>
          <a:prstGeom prst="rect">
            <a:avLst/>
          </a:prstGeom>
        </p:spPr>
      </p:pic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0892EA2A-68F2-C42E-9C6B-751122079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966139"/>
              </p:ext>
            </p:extLst>
          </p:nvPr>
        </p:nvGraphicFramePr>
        <p:xfrm>
          <a:off x="615165" y="1548483"/>
          <a:ext cx="9658992" cy="3429677"/>
        </p:xfrm>
        <a:graphic>
          <a:graphicData uri="http://schemas.openxmlformats.org/drawingml/2006/table">
            <a:tbl>
              <a:tblPr/>
              <a:tblGrid>
                <a:gridCol w="3219717">
                  <a:extLst>
                    <a:ext uri="{9D8B030D-6E8A-4147-A177-3AD203B41FA5}">
                      <a16:colId xmlns:a16="http://schemas.microsoft.com/office/drawing/2014/main" val="3728361860"/>
                    </a:ext>
                  </a:extLst>
                </a:gridCol>
                <a:gridCol w="3219611">
                  <a:extLst>
                    <a:ext uri="{9D8B030D-6E8A-4147-A177-3AD203B41FA5}">
                      <a16:colId xmlns:a16="http://schemas.microsoft.com/office/drawing/2014/main" val="675241707"/>
                    </a:ext>
                  </a:extLst>
                </a:gridCol>
                <a:gridCol w="3219664">
                  <a:extLst>
                    <a:ext uri="{9D8B030D-6E8A-4147-A177-3AD203B41FA5}">
                      <a16:colId xmlns:a16="http://schemas.microsoft.com/office/drawing/2014/main" val="3262518667"/>
                    </a:ext>
                  </a:extLst>
                </a:gridCol>
              </a:tblGrid>
              <a:tr h="1070977">
                <a:tc>
                  <a:txBody>
                    <a:bodyPr/>
                    <a:lstStyle/>
                    <a:p>
                      <a:pPr algn="ctr" fontAlgn="base"/>
                      <a:endParaRPr lang="pt-BR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8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pt-BR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8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endParaRPr lang="pt-BR" sz="1800" b="1" i="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base"/>
                      <a:endParaRPr lang="pt-BR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8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8861880"/>
                  </a:ext>
                </a:extLst>
              </a:tr>
              <a:tr h="1179350">
                <a:tc>
                  <a:txBody>
                    <a:bodyPr/>
                    <a:lstStyle/>
                    <a:p>
                      <a:pPr algn="l" fontAlgn="base"/>
                      <a:endParaRPr lang="pt-BR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8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endParaRPr lang="pt-BR" sz="1800" b="0" i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8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endParaRPr lang="pt-BR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81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879436"/>
                  </a:ext>
                </a:extLst>
              </a:tr>
              <a:tr h="1179350">
                <a:tc>
                  <a:txBody>
                    <a:bodyPr/>
                    <a:lstStyle/>
                    <a:p>
                      <a:pPr algn="l" fontAlgn="base"/>
                      <a:r>
                        <a:rPr lang="pt-BR" sz="1800" b="0" i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pt-BR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endParaRPr lang="pt-BR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auto"/>
                      <a:endParaRPr lang="pt-BR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5178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4246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9366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u="none" strike="noStrike">
                <a:solidFill>
                  <a:schemeClr val="dk1"/>
                </a:solidFill>
                <a:effectLst/>
                <a:uFillTx/>
                <a:latin typeface="Bierstadt"/>
              </a:rPr>
              <a:t>Estratégias de Melhoria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EFB07A3-FB34-72CA-A73F-0B1FDEE4BAA9}"/>
              </a:ext>
            </a:extLst>
          </p:cNvPr>
          <p:cNvSpPr txBox="1"/>
          <p:nvPr/>
        </p:nvSpPr>
        <p:spPr>
          <a:xfrm>
            <a:off x="640760" y="1975860"/>
            <a:ext cx="5657403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Otimização da experiência do cliente.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Capacitação contínua dos assessores.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Adoção de inteligência artificial para análise de perfil de investidor</a:t>
            </a:r>
            <a:r>
              <a:rPr lang="en-US" sz="2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  <a:endParaRPr lang="pt-BR" sz="24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pt-BR" sz="2400" dirty="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4FE3B40A-EE5D-4E44-AEBB-5AF9BFB5C07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687751" y="6253200"/>
            <a:ext cx="2308680" cy="6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Imagem 6" descr="Ficheiro:XP Inc. Logo.svg – Wikipédia, a enciclopédia livre">
            <a:extLst>
              <a:ext uri="{FF2B5EF4-FFF2-40B4-BE49-F238E27FC236}">
                <a16:creationId xmlns:a16="http://schemas.microsoft.com/office/drawing/2014/main" id="{2150C06D-08B3-45D9-BDD1-4AB39B098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433" y="123198"/>
            <a:ext cx="2119315" cy="490538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88831F7-1F4D-97F8-0EE9-B3B71DE2D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099" y="1975860"/>
            <a:ext cx="5150498" cy="28093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508680" y="688680"/>
            <a:ext cx="9366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pt-BR" sz="4000" b="1" dirty="0">
                <a:solidFill>
                  <a:schemeClr val="dk1"/>
                </a:solidFill>
                <a:latin typeface="Bierstadt"/>
              </a:rPr>
              <a:t>Considerações</a:t>
            </a:r>
            <a:r>
              <a:rPr lang="pt-BR" sz="4000" b="1" u="none" strike="noStrike" dirty="0">
                <a:solidFill>
                  <a:schemeClr val="dk1"/>
                </a:solidFill>
                <a:effectLst/>
                <a:uFillTx/>
                <a:latin typeface="Bierstadt"/>
              </a:rPr>
              <a:t> Finais</a:t>
            </a:r>
            <a:br>
              <a:rPr sz="4000" dirty="0"/>
            </a:br>
            <a:br>
              <a:rPr sz="4000" dirty="0"/>
            </a:br>
            <a:br>
              <a:rPr sz="4000" dirty="0"/>
            </a:br>
            <a:endParaRPr lang="pt-BR" sz="4000" b="0" u="none" strike="noStrike" dirty="0">
              <a:solidFill>
                <a:schemeClr val="dk1"/>
              </a:solidFill>
              <a:effectLst/>
              <a:uFillTx/>
              <a:latin typeface="Bierstad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490FA2C-82F2-6261-CB72-EDE06B7CF193}"/>
              </a:ext>
            </a:extLst>
          </p:cNvPr>
          <p:cNvSpPr txBox="1"/>
          <p:nvPr/>
        </p:nvSpPr>
        <p:spPr>
          <a:xfrm>
            <a:off x="508680" y="1900011"/>
            <a:ext cx="579566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Otimização da experiência do cliente.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Capacitação contínua dos assessores.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buFont typeface="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Adoção de inteligência artificial para análise de perfil de investidor</a:t>
            </a:r>
            <a:r>
              <a:rPr lang="en-US" sz="24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2" descr="Fatec Votorantim">
            <a:extLst>
              <a:ext uri="{FF2B5EF4-FFF2-40B4-BE49-F238E27FC236}">
                <a16:creationId xmlns:a16="http://schemas.microsoft.com/office/drawing/2014/main" id="{992C6F14-F1CB-4BDE-9DE5-1E952B94ABF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687751" y="6253200"/>
            <a:ext cx="2308680" cy="6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Imagem 6" descr="Ficheiro:XP Inc. Logo.svg – Wikipédia, a enciclopédia livre">
            <a:extLst>
              <a:ext uri="{FF2B5EF4-FFF2-40B4-BE49-F238E27FC236}">
                <a16:creationId xmlns:a16="http://schemas.microsoft.com/office/drawing/2014/main" id="{F60C6333-A32E-4119-87B1-3E56AC115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433" y="123198"/>
            <a:ext cx="2119315" cy="49053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37B8A5EE-CC15-BA67-C140-65E4521E1E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639" y="1718968"/>
            <a:ext cx="5138142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ítulo 7"/>
          <p:cNvSpPr txBox="1"/>
          <p:nvPr/>
        </p:nvSpPr>
        <p:spPr>
          <a:xfrm>
            <a:off x="508680" y="689040"/>
            <a:ext cx="9366480" cy="834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pt-BR" sz="4000" b="1" u="none" strike="noStrike" dirty="0">
                <a:solidFill>
                  <a:schemeClr val="dk1"/>
                </a:solidFill>
                <a:effectLst/>
                <a:uFillTx/>
                <a:latin typeface="Bierstadt"/>
              </a:rPr>
              <a:t>Referências</a:t>
            </a:r>
            <a:br>
              <a:rPr sz="4000" dirty="0"/>
            </a:br>
            <a:br>
              <a:rPr sz="4000" dirty="0"/>
            </a:br>
            <a:endParaRPr lang="pt-BR" sz="4000" dirty="0"/>
          </a:p>
          <a:p>
            <a:pPr marL="285750" indent="-285750">
              <a:buFont typeface="Arial"/>
              <a:buChar char="•"/>
            </a:pPr>
            <a:r>
              <a:rPr lang="pt-BR" sz="4000" dirty="0">
                <a:ea typeface="+mn-lt"/>
                <a:cs typeface="+mn-lt"/>
              </a:rPr>
              <a:t>XP Institucional </a:t>
            </a:r>
            <a:r>
              <a:rPr lang="pt-BR" sz="2400" dirty="0">
                <a:ea typeface="+mn-lt"/>
                <a:cs typeface="+mn-lt"/>
              </a:rPr>
              <a:t>(https://www.xpi.com.br/quem-somos/)</a:t>
            </a:r>
            <a:endParaRPr lang="pt-BR" sz="2400" dirty="0"/>
          </a:p>
          <a:p>
            <a:pPr marL="285750" indent="-285750">
              <a:buFont typeface="Arial"/>
              <a:buChar char="•"/>
            </a:pPr>
            <a:r>
              <a:rPr lang="pt-BR" sz="4000" dirty="0">
                <a:ea typeface="+mn-lt"/>
                <a:cs typeface="+mn-lt"/>
              </a:rPr>
              <a:t>XP Inc. – Relações com Investidores </a:t>
            </a:r>
            <a:r>
              <a:rPr lang="pt-BR" sz="2400" dirty="0">
                <a:ea typeface="+mn-lt"/>
                <a:cs typeface="+mn-lt"/>
              </a:rPr>
              <a:t>(https://www.xpinstitucional.com.br/)</a:t>
            </a:r>
            <a:endParaRPr lang="pt-BR" sz="2400" dirty="0"/>
          </a:p>
          <a:p>
            <a:pPr marL="285750" indent="-285750">
              <a:buFont typeface="Arial"/>
              <a:buChar char="•"/>
            </a:pPr>
            <a:r>
              <a:rPr lang="pt-BR" sz="4000" dirty="0"/>
              <a:t>XP Investimentos – Quem Somos </a:t>
            </a:r>
            <a:r>
              <a:rPr lang="pt-BR" sz="2400" dirty="0"/>
              <a:t>(</a:t>
            </a:r>
            <a:r>
              <a:rPr lang="pt-BR" sz="2400" dirty="0">
                <a:ea typeface="+mn-lt"/>
                <a:cs typeface="+mn-lt"/>
              </a:rPr>
              <a:t>https://investors.xpinc.com/)</a:t>
            </a:r>
            <a:endParaRPr lang="pt-BR" sz="2400" b="0" u="none" strike="noStrike" dirty="0">
              <a:effectLst/>
              <a:uFillTx/>
              <a:ea typeface="+mn-lt"/>
              <a:cs typeface="+mn-lt"/>
            </a:endParaRPr>
          </a:p>
          <a:p>
            <a:endParaRPr lang="pt-BR" sz="4000" dirty="0"/>
          </a:p>
        </p:txBody>
      </p:sp>
      <p:pic>
        <p:nvPicPr>
          <p:cNvPr id="5" name="Picture 2" descr="Fatec Votorantim">
            <a:extLst>
              <a:ext uri="{FF2B5EF4-FFF2-40B4-BE49-F238E27FC236}">
                <a16:creationId xmlns:a16="http://schemas.microsoft.com/office/drawing/2014/main" id="{527A8733-D73F-4620-B096-73103136CC5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9687751" y="6253200"/>
            <a:ext cx="2308680" cy="60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Imagem 5" descr="Ficheiro:XP Inc. Logo.svg – Wikipédia, a enciclopédia livre">
            <a:extLst>
              <a:ext uri="{FF2B5EF4-FFF2-40B4-BE49-F238E27FC236}">
                <a16:creationId xmlns:a16="http://schemas.microsoft.com/office/drawing/2014/main" id="{5874511F-FA39-4089-B7F2-6A7C289A1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2433" y="123198"/>
            <a:ext cx="2119315" cy="4905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611BD-4892-C279-1D8C-5A6860459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959" y="4226768"/>
            <a:ext cx="5770792" cy="1371600"/>
          </a:xfrm>
        </p:spPr>
        <p:txBody>
          <a:bodyPr/>
          <a:lstStyle/>
          <a:p>
            <a:r>
              <a:rPr lang="pt-BR" sz="8000" dirty="0">
                <a:latin typeface="Arial" panose="020B0604020202020204" pitchFamily="34" charset="0"/>
                <a:cs typeface="Arial" panose="020B0604020202020204" pitchFamily="34" charset="0"/>
              </a:rPr>
              <a:t>OBRIGADO</a:t>
            </a:r>
          </a:p>
        </p:txBody>
      </p:sp>
      <p:pic>
        <p:nvPicPr>
          <p:cNvPr id="5" name="Imagem 4" descr="Ficheiro:XP Inc. Logo.svg – Wikipédia, a enciclopédia livre">
            <a:extLst>
              <a:ext uri="{FF2B5EF4-FFF2-40B4-BE49-F238E27FC236}">
                <a16:creationId xmlns:a16="http://schemas.microsoft.com/office/drawing/2014/main" id="{34103990-0688-8ECC-951E-02F4FE2B3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955" y="1504128"/>
            <a:ext cx="9787582" cy="226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61794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rgbClr val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096a72e-31bf-4436-beb6-e02318dd828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A2C4971501A24C97405D412460D371" ma:contentTypeVersion="5" ma:contentTypeDescription="Create a new document." ma:contentTypeScope="" ma:versionID="a8fa7f9bd8acc05534e949e04feeeb62">
  <xsd:schema xmlns:xsd="http://www.w3.org/2001/XMLSchema" xmlns:xs="http://www.w3.org/2001/XMLSchema" xmlns:p="http://schemas.microsoft.com/office/2006/metadata/properties" xmlns:ns3="a096a72e-31bf-4436-beb6-e02318dd828b" targetNamespace="http://schemas.microsoft.com/office/2006/metadata/properties" ma:root="true" ma:fieldsID="7fdc160ece79dc9f05dbff62f8ffe2aa" ns3:_="">
    <xsd:import namespace="a096a72e-31bf-4436-beb6-e02318dd828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96a72e-31bf-4436-beb6-e02318dd828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45FE67-48BE-49F5-83F1-94BAD33456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12213A-19C1-4CE7-9D75-F96415B3C44E}">
  <ds:schemaRefs>
    <ds:schemaRef ds:uri="http://schemas.microsoft.com/office/2006/metadata/properties"/>
    <ds:schemaRef ds:uri="http://www.w3.org/2000/xmlns/"/>
    <ds:schemaRef ds:uri="a096a72e-31bf-4436-beb6-e02318dd828b"/>
    <ds:schemaRef ds:uri="http://www.w3.org/2001/XMLSchema-instanc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6A24E0C-FA30-426B-A42E-452B2EFF70B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a096a72e-31bf-4436-beb6-e02318dd828b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269</TotalTime>
  <Words>935</Words>
  <Application>Microsoft Office PowerPoint</Application>
  <PresentationFormat>Widescreen</PresentationFormat>
  <Paragraphs>150</Paragraphs>
  <Slides>14</Slides>
  <Notes>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5" baseType="lpstr">
      <vt:lpstr>GestaltVTI</vt:lpstr>
      <vt:lpstr>PROJETO INTEGRADOR I </vt:lpstr>
      <vt:lpstr>Apresentação da Equipe</vt:lpstr>
      <vt:lpstr>Apresentação da Empresa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Estratégias de Melhoria</vt:lpstr>
      <vt:lpstr>Considerações Finais   </vt:lpstr>
      <vt:lpstr>Apresentação do PowerPoint</vt:lpstr>
      <vt:lpstr>OBRIGADO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INTEGRADOR I</dc:title>
  <dc:subject/>
  <dc:creator>Renato Franzan Fukuda</dc:creator>
  <dc:description/>
  <cp:lastModifiedBy>RENAN MACHADO ALBERTINI</cp:lastModifiedBy>
  <cp:revision>336</cp:revision>
  <dcterms:created xsi:type="dcterms:W3CDTF">2025-03-15T15:29:57Z</dcterms:created>
  <dcterms:modified xsi:type="dcterms:W3CDTF">2025-11-02T15:13:34Z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0x010100C5A2C4971501A24C97405D412460D371</vt:lpwstr>
  </property>
  <property fmtid="{D5CDD505-2E9C-101B-9397-08002B2CF9AE}" pid="3" name="HiddenSlides">
    <vt:i4>1</vt:i4>
  </property>
  <property fmtid="{D5CDD505-2E9C-101B-9397-08002B2CF9AE}" pid="4" name="MediaServiceImageTags">
    <vt:lpwstr/>
  </property>
  <property fmtid="{D5CDD505-2E9C-101B-9397-08002B2CF9AE}" pid="5" name="Notes">
    <vt:i4>6</vt:i4>
  </property>
  <property fmtid="{D5CDD505-2E9C-101B-9397-08002B2CF9AE}" pid="6" name="PresentationFormat">
    <vt:lpwstr>Widescreen</vt:lpwstr>
  </property>
  <property fmtid="{D5CDD505-2E9C-101B-9397-08002B2CF9AE}" pid="7" name="Slides">
    <vt:i4>21</vt:i4>
  </property>
</Properties>
</file>